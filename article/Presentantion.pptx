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Barlow" panose="020F0502020204030204" pitchFamily="2" charset="0"/>
      <p:regular r:id="rId27"/>
      <p:bold r:id="rId28"/>
      <p:italic r:id="rId29"/>
      <p:boldItalic r:id="rId30"/>
    </p:embeddedFont>
    <p:embeddedFont>
      <p:font typeface="Barlow ExtraLight" panose="020F0502020204030204" pitchFamily="2" charset="0"/>
      <p:regular r:id="rId31"/>
      <p:bold r:id="rId32"/>
      <p:italic r:id="rId33"/>
      <p:boldItalic r:id="rId34"/>
    </p:embeddedFont>
    <p:embeddedFont>
      <p:font typeface="Barlow Light" panose="020F0502020204030204" pitchFamily="2" charset="0"/>
      <p:regular r:id="rId35"/>
      <p:bold r:id="rId36"/>
      <p:italic r:id="rId37"/>
      <p:boldItalic r:id="rId38"/>
    </p:embeddedFont>
    <p:embeddedFont>
      <p:font typeface="Barlow Medium" panose="020F0502020204030204" pitchFamily="2" charset="0"/>
      <p:regular r:id="rId39"/>
      <p:bold r:id="rId40"/>
      <p:italic r:id="rId41"/>
      <p:boldItalic r:id="rId42"/>
    </p:embeddedFont>
    <p:embeddedFont>
      <p:font typeface="Hepta Slab" panose="020B0604020202020204" charset="0"/>
      <p:regular r:id="rId43"/>
      <p:bold r:id="rId44"/>
    </p:embeddedFont>
    <p:embeddedFont>
      <p:font typeface="Hepta Slab Light" panose="020B0604020202020204" charset="0"/>
      <p:regular r:id="rId45"/>
      <p:bold r:id="rId46"/>
    </p:embeddedFont>
    <p:embeddedFont>
      <p:font typeface="Hepta Slab Medium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74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305aa783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305aa7838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305aa783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d305aa783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305aa7838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305aa7838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305aa7838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305aa7838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305aa783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d305aa783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305aa7838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305aa7838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305aa7838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305aa7838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305aa7838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305aa7838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a94761b8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a94761b8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a94761b8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a94761b8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a94761b8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a94761b8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a94761b8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da94761b8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32cc89284_2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32cc89284_26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32cc89284_3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32cc89284_3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a94761b8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a94761b8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a94761b8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da94761b8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a94761b8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a94761b8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a94761b8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da94761b8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a94761b8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a94761b84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a94761b84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a94761b84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a94761b8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da94761b8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a94761b8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a94761b8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a94761b8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a94761b8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a94761b8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da94761b8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2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2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i="1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14" name="Google Shape;214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4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7" name="Google Shape;237;p37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2" name="Google Shape;242;p38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274300" rIns="2743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43" name="Google Shape;243;p38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4" name="Google Shape;244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8" name="Google Shape;248;p39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9" name="Google Shape;249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2" name="Google Shape;252;p40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3" name="Google Shape;253;p40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4" name="Google Shape;254;p40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40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6" name="Google Shape;256;p40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40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59" name="Google Shape;259;p40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0" name="Google Shape;260;p40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1" name="Google Shape;261;p40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2" name="Google Shape;262;p40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64" name="Google Shape;264;p40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5" name="Google Shape;265;p40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7" name="Google Shape;267;p40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8" name="Google Shape;268;p40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9" name="Google Shape;269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2" name="Google Shape;272;p41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73" name="Google Shape;273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6" name="Google Shape;276;p42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7" name="Google Shape;277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1" name="Google Shape;281;p43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2" name="Google Shape;282;p43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3" name="Google Shape;283;p43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4" name="Google Shape;284;p43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5" name="Google Shape;285;p43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6" name="Google Shape;286;p43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88" name="Google Shape;288;p43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43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2" name="Google Shape;292;p43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3" name="Google Shape;293;p4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44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9" name="Google Shape;299;p44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0" name="Google Shape;300;p44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1" name="Google Shape;301;p44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2" name="Google Shape;302;p44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4" name="Google Shape;304;p44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05" name="Google Shape;305;p44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6" name="Google Shape;306;p44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7" name="Google Shape;307;p44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8" name="Google Shape;308;p44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9" name="Google Shape;309;p44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0" name="Google Shape;310;p44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44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44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4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6" name="Google Shape;316;p45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4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0" name="Google Shape;320;p46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1" name="Google Shape;321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7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7"/>
          <p:cNvSpPr txBox="1"/>
          <p:nvPr/>
        </p:nvSpPr>
        <p:spPr>
          <a:xfrm>
            <a:off x="543450" y="2002199"/>
            <a:ext cx="8057100" cy="554100"/>
          </a:xfrm>
          <a:prstGeom prst="rect">
            <a:avLst/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Data Search &amp; Extraction with Microservices</a:t>
            </a:r>
            <a:endParaRPr sz="2400" dirty="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28" name="Google Shape;328;p47"/>
          <p:cNvSpPr txBox="1"/>
          <p:nvPr/>
        </p:nvSpPr>
        <p:spPr>
          <a:xfrm>
            <a:off x="1569300" y="2587201"/>
            <a:ext cx="6005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Προπτυχιακή Διπλωματική Εργασία τμήματος Ηλεκτρολόγων Μηχανικών και Τεχνολογίας Υπολογιστών Πανεπιστημίου Πατρών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" name="Google Shape;329;p47"/>
          <p:cNvSpPr txBox="1"/>
          <p:nvPr/>
        </p:nvSpPr>
        <p:spPr>
          <a:xfrm>
            <a:off x="258150" y="4266275"/>
            <a:ext cx="208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Ζαμπέτης Αναστάσιος</a:t>
            </a:r>
            <a:endParaRPr sz="12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ΑΜ: 228322</a:t>
            </a:r>
            <a:endParaRPr sz="12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0" name="Google Shape;330;p47"/>
          <p:cNvSpPr txBox="1"/>
          <p:nvPr/>
        </p:nvSpPr>
        <p:spPr>
          <a:xfrm>
            <a:off x="7058400" y="4266275"/>
            <a:ext cx="208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Επιβλέπων Καθηγητής:</a:t>
            </a:r>
            <a:br>
              <a:rPr lang="en" sz="12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2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Δερματάς Ευάγγελος</a:t>
            </a:r>
            <a:endParaRPr sz="12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8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8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37" name="Google Shape;337;p48"/>
          <p:cNvSpPr txBox="1"/>
          <p:nvPr/>
        </p:nvSpPr>
        <p:spPr>
          <a:xfrm>
            <a:off x="207600" y="1379725"/>
            <a:ext cx="87288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Motivation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Design Concepts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Key Technologies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Implementation &amp; Architecture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Dataset &amp; Sensor Simulation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Monitoring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Results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Conclusions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49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9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Motivation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44" name="Google Shape;344;p49"/>
          <p:cNvSpPr txBox="1"/>
          <p:nvPr/>
        </p:nvSpPr>
        <p:spPr>
          <a:xfrm>
            <a:off x="207600" y="1886550"/>
            <a:ext cx="8728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Explosion of IoT data; value only if processed and available.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Need for scalable, maintainable, observable systems.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Use case: air-quality sensor network simulation.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50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0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Problem Statement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51" name="Google Shape;351;p50"/>
          <p:cNvSpPr txBox="1"/>
          <p:nvPr/>
        </p:nvSpPr>
        <p:spPr>
          <a:xfrm>
            <a:off x="207600" y="1886550"/>
            <a:ext cx="87288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Collect realistic sensor data, process it, and make it observable.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Constraints: low-resource devices, intermittent networks.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Goal: reproducible, containerized pipeline for metrics and dashboards, showcasing a microservice design approach.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1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1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Monolithic vs Microservice Design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58" name="Google Shape;358;p51"/>
          <p:cNvSpPr txBox="1"/>
          <p:nvPr/>
        </p:nvSpPr>
        <p:spPr>
          <a:xfrm>
            <a:off x="207600" y="1647787"/>
            <a:ext cx="8728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Monolithic: single deployable, simple to design, hard to scale/maintain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Microservices: independent services, fine-grained scaling, complex initial design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Performance vs Flexibility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59" name="Google Shape;359;p51" title="monolithic_ar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66" y="3144737"/>
            <a:ext cx="3526369" cy="17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 title="microservice_arc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7860" y="3144737"/>
            <a:ext cx="2927554" cy="17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52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2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Containers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67" name="Google Shape;367;p52"/>
          <p:cNvSpPr txBox="1"/>
          <p:nvPr/>
        </p:nvSpPr>
        <p:spPr>
          <a:xfrm>
            <a:off x="207600" y="1647225"/>
            <a:ext cx="8728800" cy="31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OS-level virtualization that packages an application and its dependencies into an isolated user-space instance.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Containers share the host kernel but have separate namespaces for processes, network, and filesystem, giving isolation without a full guest OS.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Compared to VMs: much smaller and faster to start, lower resource overhead.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Images &amp; layers: build images from a Dockerfile; each instruction creates a layer that can be cached and reused to speed builds.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Images are distributed via registries (Docker Hub, private registries) for reproducible deployments.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Benefits: portability, reproducibility, quick scale-up, small footprint.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Orchestration tools needed for production deployments.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53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3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IoT Device Simulation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74" name="Google Shape;374;p53"/>
          <p:cNvSpPr txBox="1"/>
          <p:nvPr/>
        </p:nvSpPr>
        <p:spPr>
          <a:xfrm>
            <a:off x="246375" y="1886550"/>
            <a:ext cx="87288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Purpose: provide realistic inputs to test and evaluate systems without deploying physical sensors.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Typical IoT device constraints: low CPU/RAM, intermittent connectivity, unpredictable sampling intervals, limited storage.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Simulation approaches: replay recorded datasets in a scripted way.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Benefits: no hardware required (lower cost), reproducible test scenarios, easy scaling (multiple simulators), reduced privacy concerns, safe stress-testing.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54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4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Key Technologies Overview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1" name="Google Shape;381;p54"/>
          <p:cNvSpPr txBox="1"/>
          <p:nvPr/>
        </p:nvSpPr>
        <p:spPr>
          <a:xfrm>
            <a:off x="246375" y="1886550"/>
            <a:ext cx="87288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Docker for containerization &amp; Docker Compose for orchestration and local deployment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MQTT (Mosquitto): lightweight publish/subscribe based communication protocol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Prometheus: pull-based time-series data collection and data querying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Grafana: historical and live data visualization dashboards and alerting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55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5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Docker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8" name="Google Shape;388;p55"/>
          <p:cNvSpPr txBox="1"/>
          <p:nvPr/>
        </p:nvSpPr>
        <p:spPr>
          <a:xfrm>
            <a:off x="207600" y="1416235"/>
            <a:ext cx="87288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Docker: platform to build and run containers, ensuring consistent behavior across environments.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Images: layered artifacts built from `Dockerfile`; layers enable caching and smaller transfers.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Engine: Docker Daemon + CLI + REST API manage lifecycle; use registries to distribute images.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Storage: volumes/mounts for persistence and data sharing.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Compose: YAML for local multi-container app deployments (services, ports, volumes).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56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6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Prometheus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95" name="Google Shape;395;p56"/>
          <p:cNvSpPr txBox="1"/>
          <p:nvPr/>
        </p:nvSpPr>
        <p:spPr>
          <a:xfrm>
            <a:off x="207600" y="1828825"/>
            <a:ext cx="87288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Pull-based monitoring for timestamped time-series metrics.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Exporters expose metrics; custom exporters are straightforward to implement.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Storage: optimized TSDB with configurable retention.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PromQL: query language for dashboards and alerting; integrates with Alertmanager.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Features: service discovery, Pushgateway for short-lived jobs, and label-based multidimensional metrics.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7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7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Grafana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207600" y="1586375"/>
            <a:ext cx="87288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Visualization platform for building interactive dashboards from many data sources.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Panels: graphs, heatmaps, gauges, tables; supports annotations and dashboard variables.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Templating: variables enable reusable, parameterized dashboards for different environments.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Typical uses: combine data sources, create alerts, and enable interactive exploration for operators.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58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8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MQTT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9" name="Google Shape;409;p58"/>
          <p:cNvSpPr txBox="1"/>
          <p:nvPr/>
        </p:nvSpPr>
        <p:spPr>
          <a:xfrm>
            <a:off x="207600" y="1828825"/>
            <a:ext cx="87288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Lightweight publish/subscribe protocol designed for constrained devices and unreliable networks.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Broker routes messages by topic; clients publish/subscribe with QoS options for delivery guarantees.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Strengths: low overhead, fast reconnection, and scalability to many clients.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Considerations: broker is a single point of failure unless deployed HA; secure communication with TLS and client authentication.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9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9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System Architecture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16" name="Google Shape;416;p59" title="implement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" y="1375088"/>
            <a:ext cx="8496300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60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60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Dataset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3" name="Google Shape;423;p60"/>
          <p:cNvSpPr txBox="1"/>
          <p:nvPr/>
        </p:nvSpPr>
        <p:spPr>
          <a:xfrm>
            <a:off x="253425" y="1485325"/>
            <a:ext cx="8728800" cy="11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UCI / Kaggle Air Quality dataset: hourly averages, multiple gas sensors.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Key attributes: CO, NMHC, Benzene, NOx, NO2, temperature, RH, AH.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Used to generate realistic synthetic data on the sensor emulators.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Preprocessing: CSV cleanup → JSON with indexed timestamps.</a:t>
            </a:r>
            <a:endParaRPr sz="1300">
              <a:solidFill>
                <a:srgbClr val="282C3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24" name="Google Shape;42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63" y="2796350"/>
            <a:ext cx="8325274" cy="210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61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61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Sensor Simulators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1" name="Google Shape;431;p61"/>
          <p:cNvSpPr txBox="1"/>
          <p:nvPr/>
        </p:nvSpPr>
        <p:spPr>
          <a:xfrm>
            <a:off x="207600" y="1478377"/>
            <a:ext cx="87288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Listener/publisher model: subscriber listens for `collect-data` and triggers publishers to read/generate payloads.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Data selection: replay from `dataset.json` with small-window randomization to emulate variability but keep logical consistency; `STARTPOINT` tracks progression.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Packaging: implemented in Python using `paho-mqtt` and `python-dotenv`; built with PyInstaller for compact Alpine images.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2" name="Google Shape;432;p61" title="sensor-lo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75" y="3651636"/>
            <a:ext cx="79438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62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62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MQTT Broker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9" name="Google Shape;439;p62"/>
          <p:cNvSpPr txBox="1"/>
          <p:nvPr/>
        </p:nvSpPr>
        <p:spPr>
          <a:xfrm>
            <a:off x="207600" y="1967375"/>
            <a:ext cx="8728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Eclipse Mosquitto container used for simplicity and low footprint.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Config: `persistence false` since Prometheus takes care of data retention, `listener 1883`, `allow_anonymous true` (lab mode).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3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3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Controller Node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6" name="Google Shape;446;p63"/>
          <p:cNvSpPr txBox="1"/>
          <p:nvPr/>
        </p:nvSpPr>
        <p:spPr>
          <a:xfrm>
            <a:off x="207600" y="1551750"/>
            <a:ext cx="8728800" cy="290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Subscribes to `sensor-data/#`, maps JSON fields to Prometheus Gauges labeled by sensor.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Exposes `/metrics` via a FastAPI app (served with Gunicorn in production); Prometheus scrapes this endpoint.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Benefits: central place to convert messages into time-series metrics for observability.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Example Prometheus metrics: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  `#HELP air_quality_co_gt_gauge True hourly averaged concentration CO in mg/m^3`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  `air_quality_co_gt_gauge{sensor="sensor-5"} 4.6`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  `air_quality_t_gauge{sensor="sensor-5"} 18.4`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4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4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Prometheus configuration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3" name="Google Shape;453;p64"/>
          <p:cNvSpPr txBox="1"/>
          <p:nvPr/>
        </p:nvSpPr>
        <p:spPr>
          <a:xfrm>
            <a:off x="207600" y="1967375"/>
            <a:ext cx="87288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Scrape target: `host.docker.internal:8000` (container-&gt;host mapping for local compose)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Flags used: `--web.enable-lifecycle` for config reload and `--storage.tsdb.retention.time=1y` for retention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Persisted TSDB volume to preserve time-series data across container restarts.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65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5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Grafana dashboards &amp; visuals - Historical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60" name="Google Shape;460;p65"/>
          <p:cNvSpPr txBox="1"/>
          <p:nvPr/>
        </p:nvSpPr>
        <p:spPr>
          <a:xfrm>
            <a:off x="207599" y="1028000"/>
            <a:ext cx="87288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Historical trends (templated for sensor selection)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Use variables for `sensor` to switch contexts quickly in the 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1" name="Google Shape;461;p65" title="grafana-who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287" y="1722775"/>
            <a:ext cx="7175424" cy="33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66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6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Grafana dashboards &amp; visuals - Live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68" name="Google Shape;468;p66"/>
          <p:cNvSpPr txBox="1"/>
          <p:nvPr/>
        </p:nvSpPr>
        <p:spPr>
          <a:xfrm>
            <a:off x="215615" y="1036402"/>
            <a:ext cx="871277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Live gauge overview with color thresholds.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9" name="Google Shape;469;p66" title="live-who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001" y="1629550"/>
            <a:ext cx="7197998" cy="340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67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7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Orchestration &amp; Deployment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76" name="Google Shape;476;p67"/>
          <p:cNvSpPr txBox="1"/>
          <p:nvPr/>
        </p:nvSpPr>
        <p:spPr>
          <a:xfrm>
            <a:off x="207598" y="1028000"/>
            <a:ext cx="8728800" cy="9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defines services: `mqtt_broker`, `exporter`, `prometheus`, `grafana`, and individual `sensor-*` services.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 dirty="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Volumes: `prometheus_data` and Grafana directory mounted to persist state.</a:t>
            </a:r>
            <a:endParaRPr sz="1300" dirty="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77" name="Google Shape;477;p67" title="docker_engine_compo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6149" y="2034250"/>
            <a:ext cx="3671699" cy="304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68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8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Results &amp; Observations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4" name="Google Shape;484;p68"/>
          <p:cNvSpPr txBox="1"/>
          <p:nvPr/>
        </p:nvSpPr>
        <p:spPr>
          <a:xfrm>
            <a:off x="207600" y="1805750"/>
            <a:ext cx="87288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The pipeline is modular, reproducible, and easy to run locally with `docker compose up`.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Components can be scaled easily, both horizontally and vertically. 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Monitoring provides both live status and historical trends enabling diagnostics and evaluation.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Trade-offs: added network overhead and orchestration complexity vs. greater flexibility and scalability.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69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9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Future Work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91" name="Google Shape;491;p69"/>
          <p:cNvSpPr txBox="1"/>
          <p:nvPr/>
        </p:nvSpPr>
        <p:spPr>
          <a:xfrm>
            <a:off x="207600" y="1921200"/>
            <a:ext cx="87288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Replace simulators with real campus sensors for production validation.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Move to Kubernetes for HA, autoscaling, and better resource management.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Add long-term storage (Thanos + S3) and robust alerting (Alertmanager + notification channels).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82C34"/>
              </a:buClr>
              <a:buSzPts val="1300"/>
              <a:buFont typeface="Courier New"/>
              <a:buChar char="➔"/>
            </a:pPr>
            <a:r>
              <a:rPr lang="en" sz="1300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Add CI/CD for automated builds and deployments.</a:t>
            </a:r>
            <a:endParaRPr sz="1300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70" title="up_stam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" y="62825"/>
            <a:ext cx="962050" cy="9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70"/>
          <p:cNvSpPr txBox="1"/>
          <p:nvPr/>
        </p:nvSpPr>
        <p:spPr>
          <a:xfrm>
            <a:off x="1120650" y="291475"/>
            <a:ext cx="7629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282C3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Questions</a:t>
            </a:r>
            <a:endParaRPr sz="2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98" name="Google Shape;498;p70"/>
          <p:cNvSpPr txBox="1"/>
          <p:nvPr/>
        </p:nvSpPr>
        <p:spPr>
          <a:xfrm>
            <a:off x="207600" y="2179200"/>
            <a:ext cx="8728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Ευχαριστώ πολύ!</a:t>
            </a:r>
            <a:br>
              <a:rPr lang="en" sz="1300" b="1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300" b="1">
                <a:solidFill>
                  <a:srgbClr val="282C34"/>
                </a:solidFill>
                <a:latin typeface="Courier New"/>
                <a:ea typeface="Courier New"/>
                <a:cs typeface="Courier New"/>
                <a:sym typeface="Courier New"/>
              </a:rPr>
              <a:t>Ερωτήσεις;</a:t>
            </a:r>
            <a:endParaRPr sz="1300" b="1">
              <a:solidFill>
                <a:srgbClr val="282C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Microsoft Office PowerPoint</Application>
  <PresentationFormat>On-screen Show (16:9)</PresentationFormat>
  <Paragraphs>111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Barlow Light</vt:lpstr>
      <vt:lpstr>Hepta Slab Light</vt:lpstr>
      <vt:lpstr>Arial</vt:lpstr>
      <vt:lpstr>Barlow Medium</vt:lpstr>
      <vt:lpstr>Hepta Slab</vt:lpstr>
      <vt:lpstr>Hepta Slab Medium</vt:lpstr>
      <vt:lpstr>Barlow</vt:lpstr>
      <vt:lpstr>Courier New</vt:lpstr>
      <vt:lpstr>Barlow ExtraLight</vt:lpstr>
      <vt:lpstr>Strategy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Zampetis, Anastasios (DI SW SIM SRDS DEVCOE)</cp:lastModifiedBy>
  <cp:revision>1</cp:revision>
  <dcterms:modified xsi:type="dcterms:W3CDTF">2026-05-03T17:12:55Z</dcterms:modified>
</cp:coreProperties>
</file>